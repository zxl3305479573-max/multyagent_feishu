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今天汇报的课题是基于 LangChain Agent 的智能旅游行程规划小程序。核心判断是：模型适合理解需求和生成方案，但最终能不能执行，需要真实地图数据和规则校验共同把关。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旅行规划不是简单生成一句推荐。用户还会受到预算、天数、开放时间、交通和必去地点的限制。传统手工规划耗时，纯大模型又可能出现地点或时间信息不准确，所以本设计把生成能力放进可验证的工程流程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系统面向国内自由行游客。用户输入目的地、天数、预算、偏好和必去地点，系统输出每日路线、地点、交通建议和预算摘要。目标不是只追求文本好看，而是让结果可用、可信、可复现，也能被实验评价。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毕业设计包含六个工作包：小程序交互、FastAPI服务和身份隔离、高德数据接入、LangChain和LangGraph工具编排、规则校验与反馈重排，以及缓存日志和实验评价。这样项目从前端展示延伸到了完整的后端闭环。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架构分为三层。小程序负责采集需求和展示结果，FastAPI负责接口、用户身份和缓存，Agent负责调用工具生成行程。外部的高德数据提供地点和路线事实，规则模块负责对候选方案做确定性判断。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用户约束首先被提取成结构化条件，然后调用高德的POI搜索、地理编码和路线规划工具。工具返回地点、坐标、距离、交通耗时等事实，Agent再根据这些事实组织成每日行程，减少凭空猜测。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系统不是生成一次就直接返回。初稿需要检查预算、时间窗、开放时间、交通可达性和必去地点覆盖。如果发现违规，就把具体问题反馈给Agent重新排序或替换地点，再次校验，最终输出通过的方案和解释。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本设计的特色可以概括为五点：模型生成和规则判定分工清晰；高德真实数据降低幻觉；必去地点作为硬约束；生成、校验、反馈形成闭环；最后通过微信小程序落地，并保留可解释、可复现和可评估的结果。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实验对比无规则Agent和规则闭环Agent，保持用户需求和数据源一致。评价既包括预算违规率、时间冲突率、必去覆盖率和路线连贯性，也包括目标用户对满意度和可解释性的人工评价。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后续按四个阶段推进：完善需求和数据接口，完成Agent与规则联调，开展对比实验和用户评价，最后整理论文和答辩材料。预期成果包括可运行的小程序原型、后端服务与规则模块，以及实验报告和论文材料。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aoti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aoti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coverTitle"/>
          <p:cNvGrpSpPr/>
          <p:nvPr/>
        </p:nvGrpSpPr>
        <p:grpSpPr>
          <a:xfrm>
            <a:off x="669798" y="1183958"/>
            <a:ext cx="5067143" cy="1501521"/>
            <a:chOff x="669798" y="1183958"/>
            <a:chExt cx="5067143" cy="1501521"/>
          </a:xfrm>
        </p:grpSpPr>
        <p:sp>
          <p:nvSpPr>
            <p:cNvPr id="3" name="TextBox 3"/>
            <p:cNvSpPr txBox="1"/>
            <p:nvPr/>
          </p:nvSpPr>
          <p:spPr>
            <a:xfrm>
              <a:off x="669798" y="1183958"/>
              <a:ext cx="50671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基于 LangChain Agent 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69830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智能旅游行程规划小程序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5894" y="2304098"/>
              <a:ext cx="3209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设计与实现 · 毕业设计答辩</a:t>
              </a:r>
            </a:p>
          </p:txBody>
        </p:sp>
      </p:grpSp>
      <p:grpSp>
        <p:nvGrpSpPr>
          <p:cNvPr id="11" name="coverThesis"/>
          <p:cNvGrpSpPr/>
          <p:nvPr/>
        </p:nvGrpSpPr>
        <p:grpSpPr>
          <a:xfrm>
            <a:off x="685800" y="3314700"/>
            <a:ext cx="4306545" cy="1127951"/>
            <a:chOff x="685800" y="3314700"/>
            <a:chExt cx="4306545" cy="1127951"/>
          </a:xfrm>
        </p:grpSpPr>
        <p:sp>
          <p:nvSpPr>
            <p:cNvPr id="7" name="Rectangle 7"/>
            <p:cNvSpPr/>
            <p:nvPr/>
          </p:nvSpPr>
          <p:spPr>
            <a:xfrm>
              <a:off x="685800" y="33147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3476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3925" y="3798094"/>
              <a:ext cx="40684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模型生成，规则验证，真实数据支撑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592" y="417861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把“想去哪玩”变成“今天怎么走”</a:t>
              </a:r>
            </a:p>
          </p:txBody>
        </p:sp>
      </p:grpSp>
      <p:grpSp>
        <p:nvGrpSpPr>
          <p:cNvPr id="20" name="coverFlow"/>
          <p:cNvGrpSpPr/>
          <p:nvPr/>
        </p:nvGrpSpPr>
        <p:grpSpPr>
          <a:xfrm>
            <a:off x="8039100" y="1228725"/>
            <a:ext cx="2732710" cy="3890868"/>
            <a:chOff x="8039100" y="1228725"/>
            <a:chExt cx="2732710" cy="3890868"/>
          </a:xfrm>
        </p:grpSpPr>
        <p:sp>
          <p:nvSpPr>
            <p:cNvPr id="12" name="Ellipse 12"/>
            <p:cNvSpPr/>
            <p:nvPr/>
          </p:nvSpPr>
          <p:spPr>
            <a:xfrm>
              <a:off x="8039100" y="1228725"/>
              <a:ext cx="1447800" cy="1447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9600" y="27636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理解需求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763000" y="27622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28575">
              <a:solidFill>
                <a:srgbClr val="D7E2E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39100" y="3276600"/>
              <a:ext cx="1447800" cy="1447800"/>
            </a:xfrm>
            <a:prstGeom prst="ellipse">
              <a:avLst/>
            </a:prstGeom>
            <a:solidFill>
              <a:srgbClr val="EAF8F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29600" y="48115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验证可行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496425" y="1952625"/>
              <a:ext cx="981075" cy="2047875"/>
            </a:xfrm>
            <a:custGeom>
              <a:avLst/>
              <a:gdLst/>
              <a:ahLst/>
              <a:cxnLst/>
              <a:rect l="l" t="t" r="r" b="b"/>
              <a:pathLst>
                <a:path w="981075" h="2047875">
                  <a:moveTo>
                    <a:pt x="28575" y="2047875"/>
                  </a:moveTo>
                  <a:cubicBezTo>
                    <a:pt x="885825" y="2047875"/>
                    <a:pt x="981075" y="428625"/>
                    <a:pt x="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9525000" y="188595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66675"/>
                  </a:lnTo>
                  <a:lnTo>
                    <a:pt x="1905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92690" y="3179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反馈重排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704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15472" y="61379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曾学麟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 / 研究问题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55716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旅行规划的难点，不是“生成一句话”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34553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真实场景里，计划必须同时满足多种约束</a:t>
            </a:r>
          </a:p>
        </p:txBody>
      </p:sp>
      <p:grpSp>
        <p:nvGrpSpPr>
          <p:cNvPr id="32" name="painPoints"/>
          <p:cNvGrpSpPr/>
          <p:nvPr/>
        </p:nvGrpSpPr>
        <p:grpSpPr>
          <a:xfrm>
            <a:off x="609600" y="1952625"/>
            <a:ext cx="9753600" cy="2381250"/>
            <a:chOff x="609600" y="1952625"/>
            <a:chExt cx="9753600" cy="2381250"/>
          </a:xfrm>
        </p:grpSpPr>
        <p:sp>
          <p:nvSpPr>
            <p:cNvPr id="5" name="Rectangle 5"/>
            <p:cNvSpPr/>
            <p:nvPr/>
          </p:nvSpPr>
          <p:spPr>
            <a:xfrm>
              <a:off x="609600" y="1952625"/>
              <a:ext cx="3048000" cy="238125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38200" y="2200275"/>
              <a:ext cx="457200" cy="45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1019" y="23202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8087" y="23093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手工规划耗时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161" y="28465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地点、路线、时间表反复比对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161" y="3179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信息分散，难以快速调整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752850"/>
              <a:ext cx="1809750" cy="762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3752850"/>
              <a:ext cx="11239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8304" y="3966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规划成本高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62400" y="1952625"/>
              <a:ext cx="3048000" cy="238125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91000" y="2200275"/>
              <a:ext cx="457200" cy="457200"/>
            </a:xfrm>
            <a:prstGeom prst="ellipse">
              <a:avLst/>
            </a:prstGeom>
            <a:solidFill>
              <a:srgbClr val="FFF4D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3819" y="23202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0887" y="2309336"/>
              <a:ext cx="16742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模型可能“说错”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9961" y="28465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地点、开放时间存在幻觉风险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9961" y="31799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只生成，不代表真的可执行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67200" y="3752850"/>
              <a:ext cx="1809750" cy="762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67200" y="3752850"/>
              <a:ext cx="13525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61104" y="3966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可信性不足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15200" y="1952625"/>
              <a:ext cx="3048000" cy="238125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543800" y="2200275"/>
              <a:ext cx="457200" cy="457200"/>
            </a:xfrm>
            <a:prstGeom prst="ellipse">
              <a:avLst/>
            </a:prstGeom>
            <a:solidFill>
              <a:srgbClr val="EAF8F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96619" y="23202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63687" y="23093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攻略难以适配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12761" y="28465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不同预算与偏好差异很大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12761" y="3179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静态内容不能随需求重排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0" y="3752850"/>
              <a:ext cx="1809750" cy="762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0" y="3752850"/>
              <a:ext cx="12573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3904" y="3966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个性化不足</a:t>
              </a:r>
            </a:p>
          </p:txBody>
        </p:sp>
      </p:grpSp>
      <p:grpSp>
        <p:nvGrpSpPr>
          <p:cNvPr id="36" name="researchEntry"/>
          <p:cNvGrpSpPr/>
          <p:nvPr/>
        </p:nvGrpSpPr>
        <p:grpSpPr>
          <a:xfrm>
            <a:off x="609600" y="4953000"/>
            <a:ext cx="9753600" cy="838200"/>
            <a:chOff x="609600" y="4953000"/>
            <a:chExt cx="9753600" cy="838200"/>
          </a:xfrm>
        </p:grpSpPr>
        <p:sp>
          <p:nvSpPr>
            <p:cNvPr id="33" name="Rectangle 33"/>
            <p:cNvSpPr/>
            <p:nvPr/>
          </p:nvSpPr>
          <p:spPr>
            <a:xfrm>
              <a:off x="609600" y="4953000"/>
              <a:ext cx="9753600" cy="838200"/>
            </a:xfrm>
            <a:prstGeom prst="roundRect">
              <a:avLst>
                <a:gd name="adj" fmla="val 15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7542" y="5150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E0FF"/>
                  </a:solidFill>
                  <a:latin typeface="+mn-lt"/>
                  <a:ea typeface="+mn-ea"/>
                  <a:cs typeface="+mn-cs"/>
                </a:rPr>
                <a:t>研究切入点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875" y="5417344"/>
              <a:ext cx="508076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把自然语言生成，放进真实数据与规则约束里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/ 研究目标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493825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把“想去哪玩”转成“今天怎么走”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79348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面向国内自由行游客，输出满足约束且能解释的多日行程</a:t>
            </a:r>
          </a:p>
        </p:txBody>
      </p:sp>
      <p:grpSp>
        <p:nvGrpSpPr>
          <p:cNvPr id="13" name="inputOutput"/>
          <p:cNvGrpSpPr/>
          <p:nvPr/>
        </p:nvGrpSpPr>
        <p:grpSpPr>
          <a:xfrm>
            <a:off x="609600" y="2076450"/>
            <a:ext cx="4762500" cy="3143250"/>
            <a:chOff x="609600" y="2076450"/>
            <a:chExt cx="4762500" cy="3143250"/>
          </a:xfrm>
        </p:grpSpPr>
        <p:sp>
          <p:nvSpPr>
            <p:cNvPr id="5" name="Rectangle 5"/>
            <p:cNvSpPr/>
            <p:nvPr/>
          </p:nvSpPr>
          <p:spPr>
            <a:xfrm>
              <a:off x="609600" y="2076450"/>
              <a:ext cx="4762500" cy="3143250"/>
            </a:xfrm>
            <a:prstGeom prst="roundRect">
              <a:avLst>
                <a:gd name="adj" fmla="val 4242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2311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用户输入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5637" y="2671286"/>
              <a:ext cx="41459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目的地 · 天数 · 预算 · 偏好 · 必去地点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14400" y="31051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rgbClr val="D7E2E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3321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680936"/>
              <a:ext cx="363486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每日路线 · 地点 · 交通 · 预算摘要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216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结果要求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456247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可用 · 可信 · 可复现 · 可评估</a:t>
              </a:r>
            </a:p>
          </p:txBody>
        </p:sp>
      </p:grpSp>
      <p:grpSp>
        <p:nvGrpSpPr>
          <p:cNvPr id="28" name="goals"/>
          <p:cNvGrpSpPr/>
          <p:nvPr/>
        </p:nvGrpSpPr>
        <p:grpSpPr>
          <a:xfrm>
            <a:off x="6096000" y="2076450"/>
            <a:ext cx="4953000" cy="3143250"/>
            <a:chOff x="6096000" y="2076450"/>
            <a:chExt cx="49530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096000" y="2076450"/>
              <a:ext cx="4953000" cy="3143250"/>
            </a:xfrm>
            <a:prstGeom prst="roundRect">
              <a:avLst>
                <a:gd name="adj" fmla="val 42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32042" y="2311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四项设计目标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38900" y="2781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9829" y="28898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45249" y="285892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让输入更自然：表单承载中文旅游需求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38900" y="33528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9829" y="34613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5249" y="3430429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让数据更真实：接入高德地点与路线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38900" y="39243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9829" y="40328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249" y="4001929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让结果更可靠：规则校验并反馈重排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38900" y="44958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9829" y="46043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45249" y="4573429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让效果可证明：对比实验与人工评价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 / 主要内容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723480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毕业设计主要内容：从需求到评估的六个工作包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602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项目交付不止一个聊天页面，而是一条完整的工程链路</a:t>
            </a:r>
          </a:p>
        </p:txBody>
      </p:sp>
      <p:grpSp>
        <p:nvGrpSpPr>
          <p:cNvPr id="36" name="workPackages"/>
          <p:cNvGrpSpPr/>
          <p:nvPr/>
        </p:nvGrpSpPr>
        <p:grpSpPr>
          <a:xfrm>
            <a:off x="699897" y="2705100"/>
            <a:ext cx="10454106" cy="1438656"/>
            <a:chOff x="699897" y="2705100"/>
            <a:chExt cx="10454106" cy="1438656"/>
          </a:xfrm>
        </p:grpSpPr>
        <p:sp>
          <p:nvSpPr>
            <p:cNvPr id="5" name="Line 5"/>
            <p:cNvSpPr/>
            <p:nvPr/>
          </p:nvSpPr>
          <p:spPr>
            <a:xfrm>
              <a:off x="1190625" y="3028950"/>
              <a:ext cx="9382125" cy="9525"/>
            </a:xfrm>
            <a:custGeom>
              <a:avLst/>
              <a:gdLst/>
              <a:ahLst/>
              <a:cxnLst/>
              <a:rect l="l" t="t" r="r" b="b"/>
              <a:pathLst>
                <a:path w="9382125" h="9525">
                  <a:moveTo>
                    <a:pt x="0" y="0"/>
                  </a:moveTo>
                  <a:lnTo>
                    <a:pt x="9382125" y="0"/>
                  </a:lnTo>
                </a:path>
              </a:pathLst>
            </a:custGeom>
            <a:noFill/>
            <a:ln w="38100">
              <a:solidFill>
                <a:srgbClr val="B7C7DA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99897" y="2705100"/>
              <a:ext cx="981456" cy="1438656"/>
              <a:chOff x="699897" y="2705100"/>
              <a:chExt cx="981456" cy="1438656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866775" y="270510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66390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05485" y="357997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小程序交互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99897" y="39090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表单与结果页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322739" y="2705100"/>
              <a:ext cx="1450521" cy="1438656"/>
              <a:chOff x="2322739" y="2705100"/>
              <a:chExt cx="1450521" cy="1438656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2724150" y="270510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923765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62860" y="357997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服务与隔离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22739" y="3909060"/>
                <a:ext cx="14505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FastAPI · 用户身份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315892" y="2705100"/>
              <a:ext cx="1178966" cy="1438656"/>
              <a:chOff x="4315892" y="2705100"/>
              <a:chExt cx="1178966" cy="143865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4581525" y="270510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781140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15815" y="3579971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地图数据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15892" y="3909060"/>
                <a:ext cx="11789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高德 POI / 路线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873344" y="2705100"/>
              <a:ext cx="1778813" cy="1438656"/>
              <a:chOff x="5873344" y="2705100"/>
              <a:chExt cx="1778813" cy="1438656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438900" y="270510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638515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54790" y="3579971"/>
                <a:ext cx="10159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编排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873344" y="3909060"/>
                <a:ext cx="17788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LangChain / LangGraph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048625" y="2705100"/>
              <a:ext cx="1143000" cy="1438656"/>
              <a:chOff x="8048625" y="2705100"/>
              <a:chExt cx="1143000" cy="143865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296275" y="270510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495890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30565" y="3579971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48625" y="39090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校验与反馈重排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800996" y="2705100"/>
              <a:ext cx="1353007" cy="1438656"/>
              <a:chOff x="9800996" y="2705100"/>
              <a:chExt cx="1353007" cy="143865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0153650" y="270510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53265" y="2943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087940" y="3579971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实验评估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00996" y="390906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缓存 · 日志 · 对比</a:t>
                </a:r>
              </a:p>
            </p:txBody>
          </p:sp>
        </p:grpSp>
      </p:grpSp>
      <p:sp>
        <p:nvSpPr>
          <p:cNvPr id="37" name="Rectangle 37"/>
          <p:cNvSpPr/>
          <p:nvPr/>
        </p:nvSpPr>
        <p:spPr>
          <a:xfrm>
            <a:off x="609600" y="4953000"/>
            <a:ext cx="109537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7E2EE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06018" y="52130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交付重点：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63318" y="5213032"/>
            <a:ext cx="579196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把一次规划请求，变成可追踪、可校验、可复现的系统流程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 / 系统架构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551840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系统总体架构：前端轻量，后端编排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61527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小程序负责交互，FastAPI 负责服务，Agent 负责规划，规则层负责把关</a:t>
            </a:r>
          </a:p>
        </p:txBody>
      </p:sp>
      <p:grpSp>
        <p:nvGrpSpPr>
          <p:cNvPr id="35" name="architecture"/>
          <p:cNvGrpSpPr/>
          <p:nvPr/>
        </p:nvGrpSpPr>
        <p:grpSpPr>
          <a:xfrm>
            <a:off x="609600" y="1952625"/>
            <a:ext cx="10953750" cy="3381375"/>
            <a:chOff x="609600" y="1952625"/>
            <a:chExt cx="10953750" cy="3381375"/>
          </a:xfrm>
        </p:grpSpPr>
        <p:sp>
          <p:nvSpPr>
            <p:cNvPr id="5" name="Rectangle 5"/>
            <p:cNvSpPr/>
            <p:nvPr/>
          </p:nvSpPr>
          <p:spPr>
            <a:xfrm>
              <a:off x="609600" y="1952625"/>
              <a:ext cx="2381250" cy="3381375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8492" y="2197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39799" y="2735104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微信小程序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95350" y="32575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D7E2E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8492" y="3492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111" y="3789521"/>
              <a:ext cx="17922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目的地 / 天数 / 预算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8111" y="4094321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偏好 / 必去地点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8492" y="4616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111" y="49134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每日行程与解释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990850" y="36385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524250" y="3562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57600" y="1952625"/>
              <a:ext cx="3429000" cy="3381375"/>
            </a:xfrm>
            <a:prstGeom prst="roundRect">
              <a:avLst>
                <a:gd name="adj" fmla="val 3944"/>
              </a:avLst>
            </a:prstGeom>
            <a:solidFill>
              <a:schemeClr val="accent5"/>
            </a:solidFill>
            <a:ln w="9525">
              <a:solidFill>
                <a:srgbClr val="BFD5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55542" y="2197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服务与智能层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53637" y="2614136"/>
              <a:ext cx="92108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FastAPI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55542" y="29594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 · 用户身份 · 缓存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62400" y="33337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9050">
              <a:solidFill>
                <a:srgbClr val="BFD5F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3637" y="3585686"/>
              <a:ext cx="26762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LangChain / LangGraph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5542" y="39309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工具调用 · 状态流转 · 方案生成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62400" y="4419600"/>
              <a:ext cx="26860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64711" y="4608671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规则校验 + 反馈重排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086600" y="36385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7620000" y="3562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0" y="1952625"/>
              <a:ext cx="3810000" cy="3381375"/>
            </a:xfrm>
            <a:prstGeom prst="roundRect">
              <a:avLst>
                <a:gd name="adj" fmla="val 3944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51292" y="2197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外部数据与事实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4499" y="2735104"/>
              <a:ext cx="12679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高德地图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50911" y="3275171"/>
              <a:ext cx="1765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POI 搜索 · 地理编码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50911" y="3637121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路线规划 · 交通耗时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50911" y="3999071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开放时间 · 地址坐标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58150" y="4514850"/>
              <a:ext cx="3028950" cy="495300"/>
            </a:xfrm>
            <a:prstGeom prst="roundRect">
              <a:avLst>
                <a:gd name="adj" fmla="val 19231"/>
              </a:avLst>
            </a:prstGeom>
            <a:solidFill>
              <a:srgbClr val="EAF8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79892" y="4683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为方案提供可追溯事实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344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 / 数据与工具链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694473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真实数据支撑规划，工具调用替代“凭空猜测”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236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高德数据提供事实，Agent 在事实边界内组织方案</a:t>
            </a:r>
          </a:p>
        </p:txBody>
      </p:sp>
      <p:grpSp>
        <p:nvGrpSpPr>
          <p:cNvPr id="27" name="dataFlow"/>
          <p:cNvGrpSpPr/>
          <p:nvPr/>
        </p:nvGrpSpPr>
        <p:grpSpPr>
          <a:xfrm>
            <a:off x="609600" y="2114550"/>
            <a:ext cx="10953750" cy="2762250"/>
            <a:chOff x="609600" y="2114550"/>
            <a:chExt cx="10953750" cy="2762250"/>
          </a:xfrm>
        </p:grpSpPr>
        <p:sp>
          <p:nvSpPr>
            <p:cNvPr id="5" name="Rectangle 5"/>
            <p:cNvSpPr/>
            <p:nvPr/>
          </p:nvSpPr>
          <p:spPr>
            <a:xfrm>
              <a:off x="609600" y="2114550"/>
              <a:ext cx="2857500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15618" y="2603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用户约束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161" y="32180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预算上限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161" y="35609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出行天数与时间窗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1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兴趣偏好与必去地点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43962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从自然语言提取结构化条件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467100" y="3476625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057650" y="3400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91000" y="2114550"/>
              <a:ext cx="3524250" cy="2762250"/>
            </a:xfrm>
            <a:prstGeom prst="roundRect">
              <a:avLst>
                <a:gd name="adj" fmla="val 4828"/>
              </a:avLst>
            </a:prstGeom>
            <a:solidFill>
              <a:schemeClr val="accent5"/>
            </a:solidFill>
            <a:ln w="9525">
              <a:solidFill>
                <a:srgbClr val="BFD5F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16068" y="2603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高德工具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7611" y="3218021"/>
              <a:ext cx="1765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POI 搜索 / 地理编码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7611" y="35609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步行、驾车、公交路线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7611" y="39038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地点地址、坐标、开放信息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373" y="4396264"/>
              <a:ext cx="214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事实字段进入 Agent 上下文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715250" y="3476625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8305800" y="3400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39150" y="2114550"/>
              <a:ext cx="3124200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64218" y="26031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5761" y="32180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地点清单与顺序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55761" y="35609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交通耗时与距离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57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费用估计与证据字段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6523" y="43962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可解释、可复现、可评估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609600" y="5257800"/>
            <a:ext cx="10953750" cy="438150"/>
          </a:xfrm>
          <a:prstGeom prst="roundRect">
            <a:avLst>
              <a:gd name="adj" fmla="val 21739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7161" y="5389721"/>
            <a:ext cx="44493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原则：模型负责“怎么安排”，工具负责“事实是什么”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06 / 核心闭环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689152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核心机制：生成不是终点，校验才让结果可用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0288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将大模型的灵活性与规则系统的确定性结合起来</a:t>
            </a:r>
          </a:p>
        </p:txBody>
      </p:sp>
      <p:grpSp>
        <p:nvGrpSpPr>
          <p:cNvPr id="28" name="loop"/>
          <p:cNvGrpSpPr/>
          <p:nvPr/>
        </p:nvGrpSpPr>
        <p:grpSpPr>
          <a:xfrm>
            <a:off x="3695700" y="1485900"/>
            <a:ext cx="4800600" cy="3505200"/>
            <a:chOff x="3695700" y="1485900"/>
            <a:chExt cx="4800600" cy="3505200"/>
          </a:xfrm>
        </p:grpSpPr>
        <p:sp>
          <p:nvSpPr>
            <p:cNvPr id="5" name="Ellipse 5"/>
            <p:cNvSpPr/>
            <p:nvPr/>
          </p:nvSpPr>
          <p:spPr>
            <a:xfrm>
              <a:off x="4991100" y="2133600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481066" y="29203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可执行行程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7695" y="33308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通过校验 + 解释输出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543550" y="1485900"/>
              <a:ext cx="1104900" cy="11049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84520" y="1809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生成初稿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0623" y="2107406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91400" y="2686050"/>
              <a:ext cx="1104900" cy="1104900"/>
            </a:xfrm>
            <a:prstGeom prst="ellipse">
              <a:avLst/>
            </a:prstGeom>
            <a:solidFill>
              <a:srgbClr val="EAF8F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32370" y="3009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规则校验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11973" y="33075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硬约束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543550" y="3886200"/>
              <a:ext cx="1104900" cy="1104900"/>
            </a:xfrm>
            <a:prstGeom prst="ellipse">
              <a:avLst/>
            </a:prstGeom>
            <a:solidFill>
              <a:srgbClr val="FFF4DD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84520" y="42100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反馈重排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88736" y="4507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再次生成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695700" y="2686050"/>
              <a:ext cx="1104900" cy="11049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D7E2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36670" y="3009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违规说明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14725" y="3307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指出哪里不满足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24625" y="2314575"/>
              <a:ext cx="1190625" cy="542925"/>
            </a:xfrm>
            <a:custGeom>
              <a:avLst/>
              <a:gdLst/>
              <a:ahLst/>
              <a:cxnLst/>
              <a:rect l="l" t="t" r="r" b="b"/>
              <a:pathLst>
                <a:path w="1190625" h="542925">
                  <a:moveTo>
                    <a:pt x="0" y="9525"/>
                  </a:moveTo>
                  <a:cubicBezTo>
                    <a:pt x="581025" y="0"/>
                    <a:pt x="1019175" y="257175"/>
                    <a:pt x="1190625" y="54292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581900" y="2800350"/>
              <a:ext cx="133350" cy="142875"/>
            </a:xfrm>
            <a:custGeom>
              <a:avLst/>
              <a:gdLst/>
              <a:ahLst/>
              <a:cxnLst/>
              <a:rect l="l" t="t" r="r" b="b"/>
              <a:pathLst>
                <a:path w="133350" h="142875">
                  <a:moveTo>
                    <a:pt x="133350" y="57150"/>
                  </a:moveTo>
                  <a:lnTo>
                    <a:pt x="0" y="0"/>
                  </a:lnTo>
                  <a:lnTo>
                    <a:pt x="47625" y="1428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638925" y="3790950"/>
              <a:ext cx="1152525" cy="590550"/>
            </a:xfrm>
            <a:custGeom>
              <a:avLst/>
              <a:gdLst/>
              <a:ahLst/>
              <a:cxnLst/>
              <a:rect l="l" t="t" r="r" b="b"/>
              <a:pathLst>
                <a:path w="1152525" h="590550">
                  <a:moveTo>
                    <a:pt x="1152525" y="0"/>
                  </a:moveTo>
                  <a:cubicBezTo>
                    <a:pt x="857250" y="323850"/>
                    <a:pt x="485775" y="542925"/>
                    <a:pt x="0" y="59055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638925" y="4305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04775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419600" y="3771900"/>
              <a:ext cx="1133475" cy="666750"/>
            </a:xfrm>
            <a:custGeom>
              <a:avLst/>
              <a:gdLst/>
              <a:ahLst/>
              <a:cxnLst/>
              <a:rect l="l" t="t" r="r" b="b"/>
              <a:pathLst>
                <a:path w="1133475" h="666750">
                  <a:moveTo>
                    <a:pt x="1133475" y="666750"/>
                  </a:moveTo>
                  <a:cubicBezTo>
                    <a:pt x="628650" y="571500"/>
                    <a:pt x="238125" y="285750"/>
                    <a:pt x="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391025" y="37719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28575" y="0"/>
                  </a:moveTo>
                  <a:lnTo>
                    <a:pt x="0" y="152400"/>
                  </a:lnTo>
                  <a:lnTo>
                    <a:pt x="142875" y="762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248150" y="2038350"/>
              <a:ext cx="1276350" cy="647700"/>
            </a:xfrm>
            <a:custGeom>
              <a:avLst/>
              <a:gdLst/>
              <a:ahLst/>
              <a:cxnLst/>
              <a:rect l="l" t="t" r="r" b="b"/>
              <a:pathLst>
                <a:path w="1276350" h="647700">
                  <a:moveTo>
                    <a:pt x="0" y="647700"/>
                  </a:moveTo>
                  <a:cubicBezTo>
                    <a:pt x="323850" y="285750"/>
                    <a:pt x="742950" y="76200"/>
                    <a:pt x="1276350" y="0"/>
                  </a:cubicBezTo>
                </a:path>
              </a:pathLst>
            </a:custGeom>
            <a:noFill/>
            <a:ln w="28575">
              <a:solidFill>
                <a:srgbClr val="D7E2EE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5391150" y="1971675"/>
              <a:ext cx="133350" cy="142875"/>
            </a:xfrm>
            <a:custGeom>
              <a:avLst/>
              <a:gdLst/>
              <a:ahLst/>
              <a:cxnLst/>
              <a:rect l="l" t="t" r="r" b="b"/>
              <a:pathLst>
                <a:path w="133350" h="142875">
                  <a:moveTo>
                    <a:pt x="133350" y="66675"/>
                  </a:moveTo>
                  <a:lnTo>
                    <a:pt x="0" y="0"/>
                  </a:lnTo>
                  <a:lnTo>
                    <a:pt x="19050" y="142875"/>
                  </a:lnTo>
                  <a:close/>
                </a:path>
              </a:pathLst>
            </a:custGeom>
            <a:solidFill>
              <a:srgbClr val="D7E2EE"/>
            </a:solidFill>
            <a:ln>
              <a:noFill/>
            </a:ln>
          </p:spPr>
        </p:sp>
      </p:grpSp>
      <p:grpSp>
        <p:nvGrpSpPr>
          <p:cNvPr id="40" name="checks"/>
          <p:cNvGrpSpPr/>
          <p:nvPr/>
        </p:nvGrpSpPr>
        <p:grpSpPr>
          <a:xfrm>
            <a:off x="1028700" y="5219700"/>
            <a:ext cx="10096500" cy="609600"/>
            <a:chOff x="1028700" y="5219700"/>
            <a:chExt cx="10096500" cy="609600"/>
          </a:xfrm>
        </p:grpSpPr>
        <p:sp>
          <p:nvSpPr>
            <p:cNvPr id="29" name="Rectangle 29"/>
            <p:cNvSpPr/>
            <p:nvPr/>
          </p:nvSpPr>
          <p:spPr>
            <a:xfrm>
              <a:off x="1028700" y="5219700"/>
              <a:ext cx="10096500" cy="6096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88542" y="5454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检查项：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0092" y="54549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45892" y="54549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12592" y="5454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时间窗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03192" y="54549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9892" y="5454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开放时间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8142" y="54549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74842" y="5454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交通可达性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22642" y="54549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9342" y="5454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必去地点覆盖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 / 设计特色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631138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设计特色：把“能生成”推进到“值得使用”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602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五项特色分别回答可信、真实、闭环、可解释和可落地</a:t>
            </a:r>
          </a:p>
        </p:txBody>
      </p:sp>
      <p:grpSp>
        <p:nvGrpSpPr>
          <p:cNvPr id="25" name="features"/>
          <p:cNvGrpSpPr/>
          <p:nvPr/>
        </p:nvGrpSpPr>
        <p:grpSpPr>
          <a:xfrm>
            <a:off x="609600" y="2000250"/>
            <a:ext cx="10953750" cy="3181350"/>
            <a:chOff x="609600" y="2000250"/>
            <a:chExt cx="10953750" cy="31813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33337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22355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分工清晰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018" y="260318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模型生成 / 规则判定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923" y="29675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把概率性输出放进确定性边界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00250"/>
              <a:ext cx="3333750" cy="1428750"/>
            </a:xfrm>
            <a:prstGeom prst="roundRect">
              <a:avLst>
                <a:gd name="adj" fmla="val 9333"/>
              </a:avLst>
            </a:prstGeom>
            <a:solidFill>
              <a:srgbClr val="EAF8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17542" y="22355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数据真实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16018" y="26031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高德数据降低幻觉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17923" y="29675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地点、路线和时间有事实来源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229600" y="2000250"/>
              <a:ext cx="3333750" cy="1428750"/>
            </a:xfrm>
            <a:prstGeom prst="roundRect">
              <a:avLst>
                <a:gd name="adj" fmla="val 9333"/>
              </a:avLst>
            </a:prstGeom>
            <a:solidFill>
              <a:srgbClr val="FFF4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27542" y="22355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约束显式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6018" y="2603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必去地点作为硬约束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7923" y="29675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不是“建议”，而是必须覆盖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752850"/>
              <a:ext cx="523875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542" y="39881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闭环可控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018" y="4355782"/>
              <a:ext cx="2330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→ 校验 → 反馈重排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923" y="47201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失败结果不会直接暴露给用户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324600" y="3752850"/>
              <a:ext cx="523875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22542" y="39881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场景落地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1018" y="4355782"/>
              <a:ext cx="250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微信小程序 + 可解释结果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2923" y="47201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面向年轻自由行游客，结果可复现可评估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021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08 / 实验设计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562482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实验设计：同时评价“可行”和“好用”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38376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对比规则闭环前后，兼顾客观指标与用户感受</a:t>
            </a:r>
          </a:p>
        </p:txBody>
      </p:sp>
      <p:grpSp>
        <p:nvGrpSpPr>
          <p:cNvPr id="37" name="experiment"/>
          <p:cNvGrpSpPr/>
          <p:nvPr/>
        </p:nvGrpSpPr>
        <p:grpSpPr>
          <a:xfrm>
            <a:off x="609600" y="2000250"/>
            <a:ext cx="10953750" cy="3381375"/>
            <a:chOff x="609600" y="2000250"/>
            <a:chExt cx="10953750" cy="3381375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4095750" cy="3381375"/>
            </a:xfrm>
            <a:prstGeom prst="roundRect">
              <a:avLst>
                <a:gd name="adj" fmla="val 3944"/>
              </a:avLst>
            </a:prstGeom>
            <a:solidFill>
              <a:srgbClr val="FFFFFF"/>
            </a:solidFill>
            <a:ln w="9525">
              <a:solidFill>
                <a:srgbClr val="D7E2E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225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对比方案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14400" y="2667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rgbClr val="D7E2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10839" y="289417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1839" y="3215164"/>
              <a:ext cx="1009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无规则Agent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97988" y="30251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2667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49189" y="289417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3646" y="32151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规则闭环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" y="39433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19050">
              <a:solidFill>
                <a:srgbClr val="D7E2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161" y="415147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同一批用户需求、同一数据源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161" y="4513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比较规则引入后的改善幅度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14400" y="4953000"/>
              <a:ext cx="2476500" cy="209550"/>
            </a:xfrm>
            <a:prstGeom prst="roundRect">
              <a:avLst>
                <a:gd name="adj" fmla="val 50000"/>
              </a:avLst>
            </a:prstGeom>
            <a:solidFill>
              <a:srgbClr val="EAF8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7676" y="49934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控制变量，保证对比公平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048250" y="2000250"/>
              <a:ext cx="6515100" cy="3381375"/>
            </a:xfrm>
            <a:prstGeom prst="roundRect">
              <a:avLst>
                <a:gd name="adj" fmla="val 394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46192" y="225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评价指标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45811" y="2703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预算违规率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0" y="27051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39000" y="2705100"/>
              <a:ext cx="781050" cy="152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45811" y="31418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时间冲突率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39000" y="314325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3143250"/>
              <a:ext cx="552450" cy="152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45811" y="35799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必去覆盖率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0" y="35814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39000" y="3581400"/>
              <a:ext cx="2781300" cy="15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45811" y="40181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路线连贯性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39000" y="401955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239000" y="4019550"/>
              <a:ext cx="2457450" cy="152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45811" y="44562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用户满意度与可解释性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39000" y="44577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7E2EE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39000" y="4457700"/>
              <a:ext cx="2228850" cy="15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46573" y="4929664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客观指标 + 目标用户人工评价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99110"/>
            <a:ext cx="11833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09 / 计划与成果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6646" y="791528"/>
            <a:ext cx="311543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研究计划与预期成果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61" y="1236821"/>
            <a:ext cx="4220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以可运行原型、实验数据和论文材料完成闭环交付</a:t>
            </a:r>
          </a:p>
        </p:txBody>
      </p:sp>
      <p:grpSp>
        <p:nvGrpSpPr>
          <p:cNvPr id="22" name="timeline"/>
          <p:cNvGrpSpPr/>
          <p:nvPr/>
        </p:nvGrpSpPr>
        <p:grpSpPr>
          <a:xfrm>
            <a:off x="857250" y="2189321"/>
            <a:ext cx="9810750" cy="1268635"/>
            <a:chOff x="857250" y="2189321"/>
            <a:chExt cx="9810750" cy="1268635"/>
          </a:xfrm>
        </p:grpSpPr>
        <p:sp>
          <p:nvSpPr>
            <p:cNvPr id="5" name="Line 5"/>
            <p:cNvSpPr/>
            <p:nvPr/>
          </p:nvSpPr>
          <p:spPr>
            <a:xfrm>
              <a:off x="1009650" y="2819400"/>
              <a:ext cx="9658350" cy="9525"/>
            </a:xfrm>
            <a:custGeom>
              <a:avLst/>
              <a:gdLst/>
              <a:ahLst/>
              <a:cxnLst/>
              <a:rect l="l" t="t" r="r" b="b"/>
              <a:pathLst>
                <a:path w="9658350" h="9525">
                  <a:moveTo>
                    <a:pt x="0" y="0"/>
                  </a:moveTo>
                  <a:lnTo>
                    <a:pt x="9658350" y="0"/>
                  </a:lnTo>
                </a:path>
              </a:pathLst>
            </a:custGeom>
            <a:noFill/>
            <a:ln w="38100">
              <a:solidFill>
                <a:srgbClr val="B7C7DA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62050" y="25527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7191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829050" y="25527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03891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496050" y="25527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0591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163050" y="25527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91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3610" y="21893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需求与数据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7250" y="3223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完善接口与样例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87790" y="2189321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联调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05022" y="3223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规则闭环跑通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3190" y="21893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实验评价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79134" y="32232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对比 + 用户反馈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40190" y="21893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论文答辩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58250" y="3223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整理材料与演示</a:t>
              </a:r>
            </a:p>
          </p:txBody>
        </p:sp>
      </p:grpSp>
      <p:grpSp>
        <p:nvGrpSpPr>
          <p:cNvPr id="35" name="deliverables"/>
          <p:cNvGrpSpPr/>
          <p:nvPr/>
        </p:nvGrpSpPr>
        <p:grpSpPr>
          <a:xfrm>
            <a:off x="609600" y="4000500"/>
            <a:ext cx="10953750" cy="1333500"/>
            <a:chOff x="609600" y="4000500"/>
            <a:chExt cx="10953750" cy="1333500"/>
          </a:xfrm>
        </p:grpSpPr>
        <p:sp>
          <p:nvSpPr>
            <p:cNvPr id="23" name="Rectangle 23"/>
            <p:cNvSpPr/>
            <p:nvPr/>
          </p:nvSpPr>
          <p:spPr>
            <a:xfrm>
              <a:off x="609600" y="4000500"/>
              <a:ext cx="342900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7542" y="4254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交付物 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6018" y="46224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微信小程序原型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04" y="49758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表单、规划结果、用户隔离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4000500"/>
              <a:ext cx="3429000" cy="1333500"/>
            </a:xfrm>
            <a:prstGeom prst="roundRect">
              <a:avLst>
                <a:gd name="adj" fmla="val 10000"/>
              </a:avLst>
            </a:prstGeom>
            <a:solidFill>
              <a:srgbClr val="EAF8F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79442" y="4254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交付物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7918" y="46224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后端服务与规则模块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80204" y="4975860"/>
              <a:ext cx="207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Agent、地图工具、校验闭环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53400" y="4000500"/>
              <a:ext cx="3409950" cy="1333500"/>
            </a:xfrm>
            <a:prstGeom prst="roundRect">
              <a:avLst>
                <a:gd name="adj" fmla="val 10000"/>
              </a:avLst>
            </a:prstGeom>
            <a:solidFill>
              <a:srgbClr val="FFF4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1342" y="4254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交付物 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9818" y="46224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实验报告与论文材料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2104" y="4975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指标、分析、答辩支撑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02742" y="59693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谢谢各位老师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58932" y="6137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aoti-defense">
  <a:themeElements>
    <a:clrScheme name="kaoti-defense">
      <a:dk1>
        <a:srgbClr val="172B4D"/>
      </a:dk1>
      <a:lt1>
        <a:srgbClr val="F7FAFC"/>
      </a:lt1>
      <a:dk2>
        <a:srgbClr val="1F497D"/>
      </a:dk2>
      <a:lt2>
        <a:srgbClr val="F7FAFC"/>
      </a:lt2>
      <a:accent1>
        <a:srgbClr val="155EEF"/>
      </a:accent1>
      <a:accent2>
        <a:srgbClr val="00A6A6"/>
      </a:accent2>
      <a:accent3>
        <a:srgbClr val="F59E0B"/>
      </a:accent3>
      <a:accent4>
        <a:srgbClr val="155EEF"/>
      </a:accent4>
      <a:accent5>
        <a:srgbClr val="EAF4FF"/>
      </a:accent5>
      <a:accent6>
        <a:srgbClr val="61738E"/>
      </a:accent6>
      <a:hlink>
        <a:srgbClr val="00A6A6"/>
      </a:hlink>
      <a:folHlink>
        <a:srgbClr val="F59E0B"/>
      </a:folHlink>
    </a:clrScheme>
    <a:fontScheme name="kaoti-defense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oti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oti-defense">
  <a:themeElements>
    <a:clrScheme name="kaoti-defense">
      <a:dk1>
        <a:srgbClr val="172B4D"/>
      </a:dk1>
      <a:lt1>
        <a:srgbClr val="F7FAFC"/>
      </a:lt1>
      <a:dk2>
        <a:srgbClr val="1F497D"/>
      </a:dk2>
      <a:lt2>
        <a:srgbClr val="F7FAFC"/>
      </a:lt2>
      <a:accent1>
        <a:srgbClr val="155EEF"/>
      </a:accent1>
      <a:accent2>
        <a:srgbClr val="00A6A6"/>
      </a:accent2>
      <a:accent3>
        <a:srgbClr val="F59E0B"/>
      </a:accent3>
      <a:accent4>
        <a:srgbClr val="155EEF"/>
      </a:accent4>
      <a:accent5>
        <a:srgbClr val="EAF4FF"/>
      </a:accent5>
      <a:accent6>
        <a:srgbClr val="61738E"/>
      </a:accent6>
      <a:hlink>
        <a:srgbClr val="00A6A6"/>
      </a:hlink>
      <a:folHlink>
        <a:srgbClr val="F59E0B"/>
      </a:folHlink>
    </a:clrScheme>
    <a:fontScheme name="kaoti-defense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oti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2026-09-21T02:17:51Z</dcterms:created>
  <dcterms:modified xsi:type="dcterms:W3CDTF">2026-09-21T02:17:51Z</dcterms:modified>
  <cp:category/>
  <cp:contentStatus/>
</cp:coreProperties>
</file>